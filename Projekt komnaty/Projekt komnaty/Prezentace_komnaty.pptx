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3.png" ContentType="image/png"/>
  <Override PartName="/ppt/media/image2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png" ContentType="image/png"/>
  <Override PartName="/ppt/media/image1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AA480C-7CA7-4546-A148-BD7178B091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445196-1890-454F-B8A6-5C481F6EB5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ýchoz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A5E21FE-CF91-405D-867D-35326F6B35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ýchozí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F031F7C-3323-43FB-8F10-7F25F71036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ýchozí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674DE01-06DC-4CBF-9794-C1F7DD3A44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ýchozí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B2CF128-805C-4DC1-9806-2CDF62E8EE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E68A14B-0B54-4FC7-9B97-18D8CC7E93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1440000" y="108000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7380000" y="396000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9000000" y="2700000"/>
            <a:ext cx="1259640" cy="107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-180000" y="2430000"/>
            <a:ext cx="1439640" cy="134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40000" y="1080000"/>
            <a:ext cx="719640" cy="71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126000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220000"/>
            <a:ext cx="1619640" cy="12596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9720000" y="4680000"/>
            <a:ext cx="719640" cy="71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9540000" y="342000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"/>
          <p:cNvSpPr/>
          <p:nvPr/>
        </p:nvSpPr>
        <p:spPr>
          <a:xfrm>
            <a:off x="8100000" y="4680000"/>
            <a:ext cx="1079640" cy="8420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7920000" y="5400000"/>
            <a:ext cx="899640" cy="8996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nadpisu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1"/>
          </p:nvPr>
        </p:nvSpPr>
        <p:spPr>
          <a:xfrm>
            <a:off x="3420000" y="5130000"/>
            <a:ext cx="32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2"/>
          </p:nvPr>
        </p:nvSpPr>
        <p:spPr>
          <a:xfrm>
            <a:off x="756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AD09D9-5BFA-4B99-B168-F78748E1D472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3"/>
          </p:nvPr>
        </p:nvSpPr>
        <p:spPr>
          <a:xfrm>
            <a:off x="18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Klikněte pro úpravu formátu textu osnovy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Druhá úroveň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Třetí úroveň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Čtvrtá úroveň osnovy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Pátá úroveň osnovy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Šestá úroveň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Sedmá úroveň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360" y="360"/>
            <a:ext cx="1007964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-288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18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56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86BEE235-1640-437E-9CA7-E11B0A750B28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440360" y="108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7380360" y="396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9000360" y="2700360"/>
            <a:ext cx="1259640" cy="107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-179640" y="2430360"/>
            <a:ext cx="1439640" cy="134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540360" y="1080360"/>
            <a:ext cx="719640" cy="71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360" y="126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360" y="5220360"/>
            <a:ext cx="1619640" cy="12596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9720360" y="4680360"/>
            <a:ext cx="719640" cy="71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9540360" y="342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8100360" y="4680360"/>
            <a:ext cx="1079640" cy="8420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7920360" y="5400360"/>
            <a:ext cx="899640" cy="8996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nadpisu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9640" cy="359964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Druhá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Třetí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Čtvrtá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Pátá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Šestá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Sedmá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4"/>
          </p:nvPr>
        </p:nvSpPr>
        <p:spPr>
          <a:xfrm>
            <a:off x="3420000" y="5130000"/>
            <a:ext cx="32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5"/>
          </p:nvPr>
        </p:nvSpPr>
        <p:spPr>
          <a:xfrm>
            <a:off x="756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CA0CBE-9819-4B2F-89F3-60CDD2F7126A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dt" idx="6"/>
          </p:nvPr>
        </p:nvSpPr>
        <p:spPr>
          <a:xfrm>
            <a:off x="18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360" y="360"/>
            <a:ext cx="1007964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 flipH="1">
            <a:off x="-288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18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56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80C70D7-D522-4F52-BE7B-7135659CA44E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440360" y="108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7380360" y="396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9000360" y="2700360"/>
            <a:ext cx="1259640" cy="107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-179640" y="2430360"/>
            <a:ext cx="1439640" cy="134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540360" y="1080360"/>
            <a:ext cx="719640" cy="71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>
            <a:off x="360" y="126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>
            <a:off x="360" y="5220360"/>
            <a:ext cx="1619640" cy="12596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>
            <a:off x="9720360" y="4680360"/>
            <a:ext cx="719640" cy="71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9540360" y="342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>
            <a:off x="8100360" y="4680360"/>
            <a:ext cx="1079640" cy="8420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7920360" y="5400360"/>
            <a:ext cx="899640" cy="8996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nadpisu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4391280" cy="17164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 fontScale="7500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Druhá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Třetí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Čtvrtá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Pátá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Šestá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Sedmá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1600" y="1440000"/>
            <a:ext cx="4391280" cy="359964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Druhá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Třetí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Čtvrtá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Pátá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Šestá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Sedmá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40000" y="3320280"/>
            <a:ext cx="4391280" cy="171648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 fontScale="7500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Druhá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Třetí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Čtvrtá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Pátá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Šestá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Sedmá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7"/>
          </p:nvPr>
        </p:nvSpPr>
        <p:spPr>
          <a:xfrm>
            <a:off x="3420000" y="5130000"/>
            <a:ext cx="32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8"/>
          </p:nvPr>
        </p:nvSpPr>
        <p:spPr>
          <a:xfrm>
            <a:off x="756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F5FC5A-B7A3-4E0D-9AD0-70C2F2D74600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 type="dt" idx="9"/>
          </p:nvPr>
        </p:nvSpPr>
        <p:spPr>
          <a:xfrm>
            <a:off x="18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360" y="360"/>
            <a:ext cx="1007964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 flipH="1">
            <a:off x="-288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18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56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1E8E073-8964-4FF8-99C3-08A49F587775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440360" y="108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7380360" y="396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>
            <a:off x="9000360" y="2700360"/>
            <a:ext cx="1259640" cy="107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>
            <a:off x="-179640" y="2430360"/>
            <a:ext cx="1439640" cy="134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>
            <a:off x="540360" y="1080360"/>
            <a:ext cx="719640" cy="71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" name=""/>
          <p:cNvSpPr/>
          <p:nvPr/>
        </p:nvSpPr>
        <p:spPr>
          <a:xfrm>
            <a:off x="360" y="126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>
            <a:off x="360" y="5220360"/>
            <a:ext cx="1619640" cy="12596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9720360" y="4680360"/>
            <a:ext cx="719640" cy="71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" name=""/>
          <p:cNvSpPr/>
          <p:nvPr/>
        </p:nvSpPr>
        <p:spPr>
          <a:xfrm>
            <a:off x="9540360" y="342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8100360" y="4680360"/>
            <a:ext cx="1079640" cy="8420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7920360" y="5400360"/>
            <a:ext cx="899640" cy="8996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nadpisu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10"/>
          </p:nvPr>
        </p:nvSpPr>
        <p:spPr>
          <a:xfrm>
            <a:off x="3420000" y="5130000"/>
            <a:ext cx="32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1"/>
          </p:nvPr>
        </p:nvSpPr>
        <p:spPr>
          <a:xfrm>
            <a:off x="756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0BFD0F-7180-4A1F-A832-317CA560BF16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2"/>
          </p:nvPr>
        </p:nvSpPr>
        <p:spPr>
          <a:xfrm>
            <a:off x="18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Klikněte pro úpravu formátu textu osnovy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Druhá úroveň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Třetí úroveň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Čtvrtá úroveň osnovy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Pátá úroveň osnovy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Šestá úroveň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Sedmá úroveň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360" y="360"/>
            <a:ext cx="1007964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 flipH="1">
            <a:off x="-288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" name=""/>
          <p:cNvSpPr/>
          <p:nvPr/>
        </p:nvSpPr>
        <p:spPr>
          <a:xfrm>
            <a:off x="18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56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261EB949-49CB-4928-BF4C-43DE80A5BCB0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440360" y="108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"/>
          <p:cNvSpPr/>
          <p:nvPr/>
        </p:nvSpPr>
        <p:spPr>
          <a:xfrm>
            <a:off x="7380360" y="396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" name=""/>
          <p:cNvSpPr/>
          <p:nvPr/>
        </p:nvSpPr>
        <p:spPr>
          <a:xfrm>
            <a:off x="9000360" y="2700360"/>
            <a:ext cx="1259640" cy="107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-179640" y="2430360"/>
            <a:ext cx="1439640" cy="134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540360" y="1080360"/>
            <a:ext cx="719640" cy="71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360" y="126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>
            <a:off x="360" y="5220360"/>
            <a:ext cx="1619640" cy="12596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9720360" y="4680360"/>
            <a:ext cx="719640" cy="71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9540360" y="342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" name=""/>
          <p:cNvSpPr/>
          <p:nvPr/>
        </p:nvSpPr>
        <p:spPr>
          <a:xfrm>
            <a:off x="8100360" y="4680360"/>
            <a:ext cx="1079640" cy="8420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>
            <a:off x="7920360" y="5400360"/>
            <a:ext cx="899640" cy="8996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nadpisu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4391280" cy="359964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Druhá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Třetí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Čtvrtá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Pátá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Šestá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Sedmá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5151600" y="1440000"/>
            <a:ext cx="4391280" cy="359964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Druhá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Třetí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Čtvrtá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Pátá úroveň osnovy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Šestá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Sedmá úroveň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13"/>
          </p:nvPr>
        </p:nvSpPr>
        <p:spPr>
          <a:xfrm>
            <a:off x="3420000" y="5130000"/>
            <a:ext cx="32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14"/>
          </p:nvPr>
        </p:nvSpPr>
        <p:spPr>
          <a:xfrm>
            <a:off x="756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26D172-C2F5-4E03-8F88-070856787A14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dt" idx="15"/>
          </p:nvPr>
        </p:nvSpPr>
        <p:spPr>
          <a:xfrm>
            <a:off x="18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360" y="360"/>
            <a:ext cx="10079640" cy="56696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 flipH="1">
            <a:off x="-288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4" name=""/>
          <p:cNvSpPr/>
          <p:nvPr/>
        </p:nvSpPr>
        <p:spPr>
          <a:xfrm>
            <a:off x="18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56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F2EFBAB-F956-49AB-9489-C3297846D0F8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440360" y="108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380360" y="396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" name=""/>
          <p:cNvSpPr/>
          <p:nvPr/>
        </p:nvSpPr>
        <p:spPr>
          <a:xfrm>
            <a:off x="9000360" y="2700360"/>
            <a:ext cx="1259640" cy="107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9" name=""/>
          <p:cNvSpPr/>
          <p:nvPr/>
        </p:nvSpPr>
        <p:spPr>
          <a:xfrm>
            <a:off x="-179640" y="2430360"/>
            <a:ext cx="1439640" cy="134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540360" y="1080360"/>
            <a:ext cx="719640" cy="71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" name=""/>
          <p:cNvSpPr/>
          <p:nvPr/>
        </p:nvSpPr>
        <p:spPr>
          <a:xfrm>
            <a:off x="360" y="126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" name=""/>
          <p:cNvSpPr/>
          <p:nvPr/>
        </p:nvSpPr>
        <p:spPr>
          <a:xfrm>
            <a:off x="360" y="5220360"/>
            <a:ext cx="1619640" cy="12596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9720360" y="4680360"/>
            <a:ext cx="719640" cy="71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4" name=""/>
          <p:cNvSpPr/>
          <p:nvPr/>
        </p:nvSpPr>
        <p:spPr>
          <a:xfrm>
            <a:off x="9540360" y="342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8100360" y="4680360"/>
            <a:ext cx="1079640" cy="8420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7920360" y="5400360"/>
            <a:ext cx="899640" cy="8996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nadpisu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16"/>
          </p:nvPr>
        </p:nvSpPr>
        <p:spPr>
          <a:xfrm>
            <a:off x="3420000" y="5130000"/>
            <a:ext cx="32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ffffff"/>
                </a:solidFill>
                <a:latin typeface="Arial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7"/>
          </p:nvPr>
        </p:nvSpPr>
        <p:spPr>
          <a:xfrm>
            <a:off x="756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D7A460-5378-4A50-A0B0-F5223378040E}" type="slidenum">
              <a:rPr b="0" lang="cs-CZ" sz="1400" spc="-1" strike="noStrike">
                <a:solidFill>
                  <a:srgbClr val="ffffff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18"/>
          </p:nvPr>
        </p:nvSpPr>
        <p:spPr>
          <a:xfrm>
            <a:off x="18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>
            <a:off x="0" y="360"/>
            <a:ext cx="10079640" cy="566928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"/>
          <p:cNvSpPr/>
          <p:nvPr/>
        </p:nvSpPr>
        <p:spPr>
          <a:xfrm flipH="1">
            <a:off x="-252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1260360"/>
            <a:ext cx="10259640" cy="4499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"/>
          <p:cNvSpPr/>
          <p:nvPr/>
        </p:nvSpPr>
        <p:spPr>
          <a:xfrm>
            <a:off x="18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0" lang="cs-CZ" sz="1400" spc="-1" strike="noStrike">
                <a:solidFill>
                  <a:srgbClr val="000000"/>
                </a:solidFill>
                <a:latin typeface="Arial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560360" y="5130360"/>
            <a:ext cx="2339640" cy="3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10D0258F-E8F1-47FE-96BB-74B659C48972}" type="slidenum">
              <a:rPr b="0" lang="cs-CZ" sz="1400" spc="-1" strike="noStrike">
                <a:solidFill>
                  <a:srgbClr val="000000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1440360" y="108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7380360" y="3960360"/>
            <a:ext cx="1439640" cy="12596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" name=""/>
          <p:cNvSpPr/>
          <p:nvPr/>
        </p:nvSpPr>
        <p:spPr>
          <a:xfrm>
            <a:off x="540360" y="1080360"/>
            <a:ext cx="719640" cy="719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" name=""/>
          <p:cNvSpPr/>
          <p:nvPr/>
        </p:nvSpPr>
        <p:spPr>
          <a:xfrm>
            <a:off x="360" y="1260360"/>
            <a:ext cx="719640" cy="7196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cs-CZ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Klikněte pro úpravu formátu textu nadpisu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ftr" idx="19"/>
          </p:nvPr>
        </p:nvSpPr>
        <p:spPr>
          <a:xfrm>
            <a:off x="3420000" y="5130000"/>
            <a:ext cx="32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Arial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20"/>
          </p:nvPr>
        </p:nvSpPr>
        <p:spPr>
          <a:xfrm>
            <a:off x="756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D3436A-E721-4725-AB85-ECB776A53D1E}" type="slidenum">
              <a:rPr b="0" lang="cs-CZ" sz="1400" spc="-1" strike="noStrike">
                <a:solidFill>
                  <a:srgbClr val="000000"/>
                </a:solidFill>
                <a:latin typeface="Arial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dt" idx="21"/>
          </p:nvPr>
        </p:nvSpPr>
        <p:spPr>
          <a:xfrm>
            <a:off x="180000" y="5130000"/>
            <a:ext cx="2339640" cy="3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www.dumy.cz/" TargetMode="External"/><Relationship Id="rId2" Type="http://schemas.openxmlformats.org/officeDocument/2006/relationships/hyperlink" Target="https://www.root.cz/knihy" TargetMode="External"/><Relationship Id="rId3" Type="http://schemas.openxmlformats.org/officeDocument/2006/relationships/hyperlink" Target="https://naucse.python.cz/" TargetMode="External"/><Relationship Id="rId4" Type="http://schemas.openxmlformats.org/officeDocument/2006/relationships/hyperlink" Target="https://www.w3schools.com/" TargetMode="External"/><Relationship Id="rId5" Type="http://schemas.openxmlformats.org/officeDocument/2006/relationships/hyperlink" Target="https://docs.python.org/" TargetMode="External"/><Relationship Id="rId6" Type="http://schemas.openxmlformats.org/officeDocument/2006/relationships/hyperlink" Target="https://www.geeksforgeeks.org/" TargetMode="External"/><Relationship Id="rId7" Type="http://schemas.openxmlformats.org/officeDocument/2006/relationships/hyperlink" Target="http://tkinter.programujte.com/" TargetMode="External"/><Relationship Id="rId8" Type="http://schemas.openxmlformats.org/officeDocument/2006/relationships/hyperlink" Target="http://programujte.com/" TargetMode="External"/><Relationship Id="rId9" Type="http://schemas.openxmlformats.org/officeDocument/2006/relationships/hyperlink" Target="https://www.klikzone.cz/sekce-html/html-barvy.php" TargetMode="External"/><Relationship Id="rId10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142884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4000" spc="-1" strike="noStrike">
                <a:solidFill>
                  <a:srgbClr val="ffffff"/>
                </a:solidFill>
                <a:latin typeface="Impact"/>
              </a:rPr>
              <a:t>Závěrečný projekt - Komnaty</a:t>
            </a:r>
            <a:endParaRPr b="0" lang="cs-CZ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ubTitle"/>
          </p:nvPr>
        </p:nvSpPr>
        <p:spPr>
          <a:xfrm>
            <a:off x="504000" y="2592000"/>
            <a:ext cx="9071280" cy="202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2200" spc="-1" strike="noStrike">
                <a:solidFill>
                  <a:srgbClr val="ffffff"/>
                </a:solidFill>
                <a:latin typeface="Arial"/>
              </a:rPr>
              <a:t>František Tomeš</a:t>
            </a:r>
            <a:endParaRPr b="0" lang="cs-CZ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3300" spc="-1" strike="noStrike">
                <a:solidFill>
                  <a:srgbClr val="ffffff"/>
                </a:solidFill>
                <a:latin typeface="Arial"/>
              </a:rPr>
              <a:t>Popis projektu</a:t>
            </a:r>
            <a:endParaRPr b="0" lang="cs-CZ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lnSpc>
                <a:spcPct val="100000"/>
              </a:lnSpc>
              <a:spcAft>
                <a:spcPts val="708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Pracoval jsem na zakladní struktuře hry typu „bludiště“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708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Uživatel má k dispozici základní menu a hru samotnou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708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Je zde samozřejmě mnoho prostoru na zlepšení z hlediska designu a i samotné mechaniky, ale snažil jsem se především pracovat s tím, čemu jsme se věnovali za uplynulý měsíc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/>
          </p:nvPr>
        </p:nvSpPr>
        <p:spPr>
          <a:xfrm>
            <a:off x="4860000" y="1080000"/>
            <a:ext cx="4859640" cy="179964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 fontScale="62222"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Tvorba úvodní obrazovky začala na papíře rozvržením obsahu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Dvě funkční tlačítka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„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Start“ a „Konec“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„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Konec“ se nás vyskakovacím oknem zeptá zda skutečně chceme odejít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4860000" y="2880000"/>
            <a:ext cx="4859640" cy="2583000"/>
          </a:xfrm>
          <a:prstGeom prst="rect">
            <a:avLst/>
          </a:prstGeom>
          <a:ln w="18000">
            <a:noFill/>
          </a:ln>
        </p:spPr>
      </p:pic>
      <p:pic>
        <p:nvPicPr>
          <p:cNvPr id="154" name="" descr="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360000" y="1080000"/>
            <a:ext cx="2519640" cy="2480760"/>
          </a:xfrm>
          <a:prstGeom prst="rect">
            <a:avLst/>
          </a:prstGeom>
          <a:ln w="18000">
            <a:noFill/>
          </a:ln>
        </p:spPr>
      </p:pic>
      <p:sp>
        <p:nvSpPr>
          <p:cNvPr id="155" name="PlaceHolder 2"/>
          <p:cNvSpPr>
            <a:spLocks noGrp="1"/>
          </p:cNvSpPr>
          <p:nvPr>
            <p:ph type="title"/>
          </p:nvPr>
        </p:nvSpPr>
        <p:spPr>
          <a:xfrm>
            <a:off x="540000" y="18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3300" spc="-1" strike="noStrike">
                <a:solidFill>
                  <a:srgbClr val="ffffff"/>
                </a:solidFill>
                <a:latin typeface="Arial"/>
              </a:rPr>
              <a:t>Úvodní obrazovka</a:t>
            </a:r>
            <a:endParaRPr b="0" lang="cs-CZ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3">
            <a:alphaModFix amt="70000"/>
          </a:blip>
          <a:stretch/>
        </p:blipFill>
        <p:spPr>
          <a:xfrm>
            <a:off x="2160000" y="2960640"/>
            <a:ext cx="2509200" cy="24390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3300" spc="-1" strike="noStrike">
                <a:solidFill>
                  <a:srgbClr val="ffffff"/>
                </a:solidFill>
                <a:latin typeface="Arial"/>
              </a:rPr>
              <a:t>Ukázky papírové „přípravy“</a:t>
            </a:r>
            <a:endParaRPr b="0" lang="cs-CZ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540000" y="1440000"/>
            <a:ext cx="4391280" cy="3599640"/>
          </a:xfrm>
          <a:prstGeom prst="rect">
            <a:avLst/>
          </a:prstGeom>
          <a:ln w="18000">
            <a:noFill/>
          </a:ln>
        </p:spPr>
      </p:pic>
      <p:pic>
        <p:nvPicPr>
          <p:cNvPr id="159" name="" descr=""/>
          <p:cNvPicPr/>
          <p:nvPr/>
        </p:nvPicPr>
        <p:blipFill>
          <a:blip r:embed="rId2">
            <a:alphaModFix amt="70000"/>
          </a:blip>
          <a:stretch/>
        </p:blipFill>
        <p:spPr>
          <a:xfrm rot="5421000">
            <a:off x="5033520" y="1649520"/>
            <a:ext cx="4479120" cy="335916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3300" spc="-1" strike="noStrike">
                <a:solidFill>
                  <a:srgbClr val="ffffff"/>
                </a:solidFill>
                <a:latin typeface="Arial"/>
              </a:rPr>
              <a:t>Ukázky papírové „přípravy“</a:t>
            </a:r>
            <a:endParaRPr b="0" lang="cs-CZ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5400000" y="1440000"/>
            <a:ext cx="4080240" cy="3599640"/>
          </a:xfrm>
          <a:prstGeom prst="rect">
            <a:avLst/>
          </a:prstGeom>
          <a:ln w="18000">
            <a:noFill/>
          </a:ln>
        </p:spPr>
      </p:pic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900000" y="1359000"/>
            <a:ext cx="3780000" cy="368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>
            <a:alphaModFix amt="70000"/>
          </a:blip>
          <a:stretch/>
        </p:blipFill>
        <p:spPr>
          <a:xfrm rot="5403600">
            <a:off x="-110880" y="741960"/>
            <a:ext cx="5262480" cy="4313880"/>
          </a:xfrm>
          <a:prstGeom prst="rect">
            <a:avLst/>
          </a:prstGeom>
          <a:ln w="18000">
            <a:noFill/>
          </a:ln>
        </p:spPr>
      </p:pic>
      <p:pic>
        <p:nvPicPr>
          <p:cNvPr id="165" name="" descr="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4860000" y="270000"/>
            <a:ext cx="4880160" cy="53096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4860000" y="720000"/>
            <a:ext cx="5050080" cy="4499640"/>
          </a:xfrm>
          <a:prstGeom prst="rect">
            <a:avLst/>
          </a:prstGeom>
          <a:ln w="18000">
            <a:noFill/>
          </a:ln>
        </p:spPr>
      </p:pic>
      <p:pic>
        <p:nvPicPr>
          <p:cNvPr id="168" name="" descr=""/>
          <p:cNvPicPr/>
          <p:nvPr/>
        </p:nvPicPr>
        <p:blipFill>
          <a:blip r:embed="rId2">
            <a:alphaModFix amt="70000"/>
          </a:blip>
          <a:stretch/>
        </p:blipFill>
        <p:spPr>
          <a:xfrm>
            <a:off x="180000" y="738000"/>
            <a:ext cx="4635360" cy="44816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3300" spc="-1" strike="noStrike">
                <a:solidFill>
                  <a:srgbClr val="ffffff"/>
                </a:solidFill>
                <a:latin typeface="Arial"/>
              </a:rPr>
              <a:t>Hrací pole</a:t>
            </a:r>
            <a:endParaRPr b="0" lang="cs-CZ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5220000" y="1260000"/>
            <a:ext cx="4391280" cy="413964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Zde je několik objektů s různými interakcemi.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Na každou interakci upozorní vyskakovací okno.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Uživatel zde musí najít klíč, může najít poklad a ve dvou místnostech jsou nepřátelé.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Souboj s nimi je založený na náhodě.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Po nalezení klíče může hráč odejít černým blokem na konci chodby.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Při odchodu je mu pogratulováno prostřednictvím vyskakovacího okna</a:t>
            </a:r>
            <a:br>
              <a:rPr sz="2400"/>
            </a:b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a po jeho potvrzení, je přenesený zpět na úvodní obrazovku.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540000" y="1260000"/>
            <a:ext cx="4391280" cy="41396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3300" spc="-1" strike="noStrike">
                <a:solidFill>
                  <a:srgbClr val="ffffff"/>
                </a:solidFill>
                <a:latin typeface="Arial"/>
              </a:rPr>
              <a:t>Použité zdroje a pomocníci</a:t>
            </a:r>
            <a:endParaRPr b="0" lang="cs-CZ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4391280" cy="359964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https://www.dumy.cz/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 učebnice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https://www.root.cz/knihy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 učebnice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3"/>
              </a:rPr>
              <a:t>https://naucse.python.cz/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-online studijní materiály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4"/>
              </a:rPr>
              <a:t>https://www.w3schools.com/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 e-learning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5"/>
              </a:rPr>
              <a:t>https://docs.python.org/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 python manuál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6"/>
              </a:rPr>
              <a:t>https://www.geeksforgeeks.org/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 nerdi nerdům radí :)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1600" y="1440000"/>
            <a:ext cx="4391280" cy="359964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7"/>
              </a:rPr>
              <a:t>http://tkinter.programujte.com/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 rady a návody k tkinter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8"/>
              </a:rPr>
              <a:t>http://programujte.com/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 návody, rady, tipy&amp;triky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 u="sng">
                <a:solidFill>
                  <a:srgbClr val="0000ee"/>
                </a:solidFill>
                <a:uFillTx/>
                <a:latin typeface="Arial"/>
                <a:hlinkClick r:id="rId9"/>
              </a:rPr>
              <a:t>https://www.klikzone.cz/sekce-html/html-barvy.php</a:t>
            </a: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 - Barvy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UI Blaze – personifikovaný ChatGPT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Ing. Martin Štěpánek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Marcík – věrný nohsled z mého serveru :)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60000" y="2340000"/>
            <a:ext cx="8999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3300" spc="-1" strike="noStrike">
                <a:solidFill>
                  <a:srgbClr val="ffffff"/>
                </a:solidFill>
                <a:latin typeface="Arial"/>
              </a:rPr>
              <a:t>Děkuji za pozornost</a:t>
            </a:r>
            <a:endParaRPr b="0" lang="cs-CZ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2024-06-25T21:35:34Z</dcterms:created>
  <dc:creator/>
  <dc:description/>
  <dc:language>cs-CZ</dc:language>
  <cp:lastModifiedBy/>
  <dcterms:modified xsi:type="dcterms:W3CDTF">2024-06-26T03:35:00Z</dcterms:modified>
  <cp:revision>3</cp:revision>
  <dc:subject/>
  <dc:title>Lights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